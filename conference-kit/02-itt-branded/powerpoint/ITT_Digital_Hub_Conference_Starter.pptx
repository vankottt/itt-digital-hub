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hero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tt-lockup-compact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237744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AA8C4"/>
                </a:solidFill>
                <a:latin typeface="IBM Plex Sans"/>
              </a:rPr>
              <a:t>APPLIED AI CONSULTANCY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F7F8FD"/>
                </a:solidFill>
                <a:latin typeface="IBM Plex Sans"/>
              </a:rPr>
              <a:t>From complex workflows</a:t>
            </a:r>
          </a:p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F7F8FD"/>
                </a:solidFill>
                <a:latin typeface="IBM Plex Sans"/>
              </a:rPr>
              <a:t>to working AI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34840"/>
            <a:ext cx="502920" cy="54864"/>
          </a:xfrm>
          <a:prstGeom prst="rect">
            <a:avLst/>
          </a:prstGeom>
          <a:solidFill>
            <a:srgbClr val="002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A8C4"/>
                </a:solidFill>
                <a:latin typeface="IBM Plex Sans"/>
              </a:rPr>
              <a:t>ITT Digital Hub  ·  ittdigitalhub.uk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8C4"/>
                </a:solidFill>
                <a:latin typeface="IBM Plex Sans"/>
              </a:rPr>
              <a:t>Conference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tt-lockup-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210312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Business understanding × systems thinking × AI engineering.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502920" cy="54864"/>
          </a:xfrm>
          <a:prstGeom prst="rect">
            <a:avLst/>
          </a:prstGeom>
          <a:solidFill>
            <a:srgbClr val="002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3A4660"/>
                </a:solidFill>
                <a:latin typeface="IBM Plex Sans"/>
              </a:rPr>
              <a:t>We combine business process expertise and hands-on software engineering to design and build AI solutions around real operations, existing systems and data.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40E31"/>
                </a:solidFill>
                <a:latin typeface="IBM Plex Sans"/>
              </a:rPr>
              <a:t>AI is a capability, not the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hero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AA8C4"/>
                </a:solidFill>
                <a:latin typeface="IBM Plex Sans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 i="0">
                <a:solidFill>
                  <a:srgbClr val="F7F8FD"/>
                </a:solidFill>
                <a:latin typeface="IBM Plex Sans"/>
              </a:rPr>
              <a:t>AI isn’t always the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46120"/>
            <a:ext cx="502920" cy="54864"/>
          </a:xfrm>
          <a:prstGeom prst="rect">
            <a:avLst/>
          </a:prstGeom>
          <a:solidFill>
            <a:srgbClr val="002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AA8C4"/>
                </a:solidFill>
                <a:latin typeface="IBM Plex Sans"/>
              </a:rPr>
              <a:t>We start with the process, not the model. Depending on the problem, the right architecture may involve AI agents, deterministic automation, integrations, conventional software, existing enterprise tools, local AI — or a combination.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WHAT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Problems, not a service catalogue.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40E31"/>
                </a:solidFill>
                <a:latin typeface="IBM Plex Sans"/>
              </a:rPr>
              <a:t>Fragmented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Work split across people, systems, email, spreadsheets, manual handoffs and disconnected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40E31"/>
                </a:solidFill>
                <a:latin typeface="IBM Plex Sans"/>
              </a:rPr>
              <a:t>Knowledge-heavy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Skilled people spend too long finding, interpreting, preparing, validating and summarising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40E31"/>
                </a:solidFill>
                <a:latin typeface="IBM Plex Sans"/>
              </a:rPr>
              <a:t>Complex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66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Settings where software, AI, data, operational context, physical systems and human decisions have to work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Understand. Design.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2CFF"/>
                </a:solidFill>
                <a:latin typeface="IBM Plex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40E31"/>
                </a:solidFill>
                <a:latin typeface="IBM Plex San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Workflow, people, systems, data, constraints and the actual business problem — before choosing a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2CFF"/>
                </a:solidFill>
                <a:latin typeface="IBM Plex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40E31"/>
                </a:solidFill>
                <a:latin typeface="IBM Plex Sans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The right combination of AI, automation, software, integration, data and human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5204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2CFF"/>
                </a:solidFill>
                <a:latin typeface="IBM Plex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40E31"/>
                </a:solidFill>
                <a:latin typeface="IBM Plex San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Hands-on implementation. The same senior people who understood the problem stay involved in building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Our stories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40E31"/>
                </a:solidFill>
                <a:latin typeface="IBM Plex Sans"/>
              </a:rPr>
              <a:t>AI-Assisted Solar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Applied AI around solar infrastructure: monitoring and operational support where they are verified. Status: in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10881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40E31"/>
                </a:solidFill>
                <a:latin typeface="IBM Plex Sans"/>
              </a:rPr>
              <a:t>Local AI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Coordinating specialised local models, tools and services. Internal R&amp;D / prototype — not a product being sold.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40E31"/>
                </a:solidFill>
                <a:latin typeface="IBM Plex Sans"/>
              </a:rPr>
              <a:t>ATN Warranty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Warranty registration and operator workflow. Working software, without forcing AI into the story. warranty.atneu.com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Two complementary specialists.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van-todorov-portrait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6888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40E31"/>
                </a:solidFill>
                <a:latin typeface="IBM Plex Sans"/>
              </a:rPr>
              <a:t>Ivan Todorov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A4660"/>
                </a:solidFill>
                <a:latin typeface="IBM Plex Sans"/>
              </a:rPr>
              <a:t>Business Systems &amp; AI Solutions 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Works from the process and business-systems side: how the work actually runs, where it breaks, and what is worth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040E31"/>
                </a:solidFill>
                <a:latin typeface="IBM Plex Sans"/>
              </a:rPr>
              <a:t>Ivan Tomchev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A4660"/>
                </a:solidFill>
                <a:latin typeface="IBM Plex Sans"/>
              </a:rPr>
              <a:t>AI Systems Architect &amp; Software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Designs and builds complex software and AI systems, with a focus on local AI, orchestration, integrations and operational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Organisations with real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A4660"/>
                </a:solidFill>
                <a:latin typeface="IBM Plex Sans"/>
              </a:rPr>
              <a:t>Retail, manufacturing, logistics and public institutions — as shown on ittdigitalhub.uk. Not claimed as clients unless confirmed.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ATN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560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Merkanto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Tomchevi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560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UACG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UNWE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2062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MG Klima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2062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40E31"/>
                </a:solidFill>
                <a:latin typeface="IBM Plex Sans"/>
              </a:rPr>
              <a:t>Nakra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hero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tt-lockup-compact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237744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AA8C4"/>
                </a:solidFill>
                <a:latin typeface="IBM Plex Sans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F7F8FD"/>
                </a:solidFill>
                <a:latin typeface="IBM Plex Sans"/>
              </a:rPr>
              <a:t>Have a problem worth solving?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502920" cy="54864"/>
          </a:xfrm>
          <a:prstGeom prst="rect">
            <a:avLst/>
          </a:prstGeom>
          <a:solidFill>
            <a:srgbClr val="002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AA8C4"/>
                </a:solidFill>
                <a:latin typeface="IBM Plex Sans"/>
              </a:rPr>
              <a:t>If you have a process, operation or system where AI might make sense — show us the problem.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7F8FD"/>
                </a:solidFill>
                <a:latin typeface="IBM Plex Sans"/>
              </a:rPr>
              <a:t>ittdigitalhub.uk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A8C4"/>
                </a:solidFill>
                <a:latin typeface="IBM Plex Sans"/>
              </a:rPr>
              <a:t>LinkedIn: linkedin.com/in/ivan-todorov-30152428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hero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AA8C4"/>
                </a:solidFill>
                <a:latin typeface="IBM Plex Sans"/>
              </a:rPr>
              <a:t>SECTION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F7F8FD"/>
                </a:solidFill>
                <a:latin typeface="IBM Plex Sans"/>
              </a:rPr>
              <a:t>Section title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194560"/>
            <a:ext cx="640080" cy="64008"/>
          </a:xfrm>
          <a:prstGeom prst="rect">
            <a:avLst/>
          </a:prstGeom>
          <a:solidFill>
            <a:srgbClr val="002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040E31"/>
                </a:solidFill>
                <a:latin typeface="IBM Plex Sans"/>
              </a:rPr>
              <a:t>A short statement that carries the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80"/>
                </a:solidFill>
                <a:latin typeface="IBM Plex Sans"/>
              </a:rPr>
              <a:t>Optional attribution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aper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B6780"/>
                </a:solidFill>
                <a:latin typeface="IBM Plex Sans"/>
              </a:rPr>
              <a:t>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40E31"/>
                </a:solidFill>
                <a:latin typeface="IBM Plex Sans"/>
              </a:rPr>
              <a:t>Two-column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035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40E31"/>
                </a:solidFill>
                <a:latin typeface="IBM Plex Sans"/>
              </a:rPr>
              <a:t>Left heading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Body copy. Keep to one idea per column.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040E31"/>
                </a:solidFill>
                <a:latin typeface="IBM Plex Sans"/>
              </a:rPr>
              <a:t>Right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A4660"/>
                </a:solidFill>
                <a:latin typeface="IBM Plex Sans"/>
              </a:rPr>
              <a:t>Body copy. Keep to one idea per column.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hero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tt-lockup-compact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92608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7F8FD"/>
                </a:solidFill>
                <a:latin typeface="IBM Plex Sans"/>
              </a:rPr>
              <a:t>ittdigitalhub.uk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A8C4"/>
                </a:solidFill>
                <a:latin typeface="IBM Plex San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